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Lakes Neue Expanded Bold" charset="1" panose="02010001040000080307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Poppins Italic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8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6.pn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2" Target="../media/image3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71865" y="-485270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20209" y="843227"/>
            <a:ext cx="7229768" cy="8506883"/>
          </a:xfrm>
          <a:custGeom>
            <a:avLst/>
            <a:gdLst/>
            <a:ahLst/>
            <a:cxnLst/>
            <a:rect r="r" b="b" t="t" l="l"/>
            <a:pathLst>
              <a:path h="8506883" w="7229768">
                <a:moveTo>
                  <a:pt x="0" y="0"/>
                </a:moveTo>
                <a:lnTo>
                  <a:pt x="7229769" y="0"/>
                </a:lnTo>
                <a:lnTo>
                  <a:pt x="7229769" y="8506884"/>
                </a:lnTo>
                <a:lnTo>
                  <a:pt x="0" y="8506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786954" y="623326"/>
            <a:ext cx="7683146" cy="9040349"/>
          </a:xfrm>
          <a:custGeom>
            <a:avLst/>
            <a:gdLst/>
            <a:ahLst/>
            <a:cxnLst/>
            <a:rect r="r" b="b" t="t" l="l"/>
            <a:pathLst>
              <a:path h="9040349" w="7683146">
                <a:moveTo>
                  <a:pt x="0" y="0"/>
                </a:moveTo>
                <a:lnTo>
                  <a:pt x="7683146" y="0"/>
                </a:lnTo>
                <a:lnTo>
                  <a:pt x="7683146" y="9040348"/>
                </a:lnTo>
                <a:lnTo>
                  <a:pt x="0" y="9040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600418"/>
            <a:ext cx="16514364" cy="7086163"/>
          </a:xfrm>
          <a:custGeom>
            <a:avLst/>
            <a:gdLst/>
            <a:ahLst/>
            <a:cxnLst/>
            <a:rect r="r" b="b" t="t" l="l"/>
            <a:pathLst>
              <a:path h="7086163" w="16514364">
                <a:moveTo>
                  <a:pt x="0" y="0"/>
                </a:moveTo>
                <a:lnTo>
                  <a:pt x="16514364" y="0"/>
                </a:lnTo>
                <a:lnTo>
                  <a:pt x="16514364" y="7086164"/>
                </a:lnTo>
                <a:lnTo>
                  <a:pt x="0" y="7086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67006" y="1316099"/>
            <a:ext cx="4292360" cy="5991873"/>
          </a:xfrm>
          <a:custGeom>
            <a:avLst/>
            <a:gdLst/>
            <a:ahLst/>
            <a:cxnLst/>
            <a:rect r="r" b="b" t="t" l="l"/>
            <a:pathLst>
              <a:path h="5991873" w="4292360">
                <a:moveTo>
                  <a:pt x="0" y="0"/>
                </a:moveTo>
                <a:lnTo>
                  <a:pt x="4292360" y="0"/>
                </a:lnTo>
                <a:lnTo>
                  <a:pt x="4292360" y="5991874"/>
                </a:lnTo>
                <a:lnTo>
                  <a:pt x="0" y="59918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30173" y="1844058"/>
            <a:ext cx="5522749" cy="7047591"/>
          </a:xfrm>
          <a:custGeom>
            <a:avLst/>
            <a:gdLst/>
            <a:ahLst/>
            <a:cxnLst/>
            <a:rect r="r" b="b" t="t" l="l"/>
            <a:pathLst>
              <a:path h="7047591" w="5522749">
                <a:moveTo>
                  <a:pt x="0" y="0"/>
                </a:moveTo>
                <a:lnTo>
                  <a:pt x="5522748" y="0"/>
                </a:lnTo>
                <a:lnTo>
                  <a:pt x="5522748" y="7047591"/>
                </a:lnTo>
                <a:lnTo>
                  <a:pt x="0" y="70475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36403" y="5250573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71668" y="1963445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96192" y="3882659"/>
            <a:ext cx="6998833" cy="14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3"/>
              </a:lnSpc>
            </a:pPr>
            <a:r>
              <a:rPr lang="en-US" b="true" sz="5336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SISTEMA ACADÊMICO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96192" y="5396428"/>
            <a:ext cx="7325580" cy="19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10"/>
              </a:lnSpc>
            </a:pPr>
            <a:r>
              <a:rPr lang="en-US" b="true" sz="1438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ANÁLISE E GARANTIA DA QUALIDADE DE REQUISITOS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69511" y="6351102"/>
            <a:ext cx="7183699" cy="16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</a:pPr>
            <a:r>
              <a:rPr lang="en-US" b="true" sz="1200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PROF. DANIEL HENRIQUE MATOS DE PAIVA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69511" y="6733660"/>
            <a:ext cx="9073812" cy="32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200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INTEGRANTES: </a:t>
            </a:r>
          </a:p>
          <a:p>
            <a:pPr algn="l" marL="0" indent="0" lvl="0">
              <a:lnSpc>
                <a:spcPts val="1260"/>
              </a:lnSpc>
            </a:pPr>
            <a:r>
              <a:rPr lang="en-US" b="true" sz="1200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GABRIEL GOBIRA, MARCELLA ANATANIEL, NATHALY CAROLINE E WILLIAM LÁZARO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6400" y="9395208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7"/>
                </a:lnTo>
                <a:lnTo>
                  <a:pt x="0" y="24339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34404" y="2315657"/>
            <a:ext cx="10793017" cy="65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75"/>
              </a:lnSpc>
            </a:pPr>
            <a:r>
              <a:rPr lang="en-US" b="true" sz="4738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PROBLEMA E ESCOPO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-3709327" y="5778350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71698" y="3613792"/>
            <a:ext cx="7491239" cy="4038341"/>
            <a:chOff x="0" y="0"/>
            <a:chExt cx="1973001" cy="10635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3001" cy="1063596"/>
            </a:xfrm>
            <a:custGeom>
              <a:avLst/>
              <a:gdLst/>
              <a:ahLst/>
              <a:cxnLst/>
              <a:rect r="r" b="b" t="t" l="l"/>
              <a:pathLst>
                <a:path h="1063596" w="1973001">
                  <a:moveTo>
                    <a:pt x="25837" y="0"/>
                  </a:moveTo>
                  <a:lnTo>
                    <a:pt x="1947165" y="0"/>
                  </a:lnTo>
                  <a:cubicBezTo>
                    <a:pt x="1961434" y="0"/>
                    <a:pt x="1973001" y="11567"/>
                    <a:pt x="1973001" y="25837"/>
                  </a:cubicBezTo>
                  <a:lnTo>
                    <a:pt x="1973001" y="1037759"/>
                  </a:lnTo>
                  <a:cubicBezTo>
                    <a:pt x="1973001" y="1052029"/>
                    <a:pt x="1961434" y="1063596"/>
                    <a:pt x="1947165" y="1063596"/>
                  </a:cubicBezTo>
                  <a:lnTo>
                    <a:pt x="25837" y="1063596"/>
                  </a:lnTo>
                  <a:cubicBezTo>
                    <a:pt x="11567" y="1063596"/>
                    <a:pt x="0" y="1052029"/>
                    <a:pt x="0" y="1037759"/>
                  </a:cubicBezTo>
                  <a:lnTo>
                    <a:pt x="0" y="25837"/>
                  </a:lnTo>
                  <a:cubicBezTo>
                    <a:pt x="0" y="11567"/>
                    <a:pt x="11567" y="0"/>
                    <a:pt x="25837" y="0"/>
                  </a:cubicBezTo>
                  <a:close/>
                </a:path>
              </a:pathLst>
            </a:custGeom>
            <a:ln w="47625" cap="rnd">
              <a:solidFill>
                <a:srgbClr val="F0F7F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973001" cy="1035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98" y="3613792"/>
            <a:ext cx="1602246" cy="4038341"/>
            <a:chOff x="0" y="0"/>
            <a:chExt cx="421991" cy="10635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1991" cy="1063596"/>
            </a:xfrm>
            <a:custGeom>
              <a:avLst/>
              <a:gdLst/>
              <a:ahLst/>
              <a:cxnLst/>
              <a:rect r="r" b="b" t="t" l="l"/>
              <a:pathLst>
                <a:path h="1063596" w="421991">
                  <a:moveTo>
                    <a:pt x="120798" y="0"/>
                  </a:moveTo>
                  <a:lnTo>
                    <a:pt x="301193" y="0"/>
                  </a:lnTo>
                  <a:cubicBezTo>
                    <a:pt x="333231" y="0"/>
                    <a:pt x="363956" y="12727"/>
                    <a:pt x="386610" y="35381"/>
                  </a:cubicBezTo>
                  <a:cubicBezTo>
                    <a:pt x="409264" y="58035"/>
                    <a:pt x="421991" y="88760"/>
                    <a:pt x="421991" y="120798"/>
                  </a:cubicBezTo>
                  <a:lnTo>
                    <a:pt x="421991" y="942798"/>
                  </a:lnTo>
                  <a:cubicBezTo>
                    <a:pt x="421991" y="974836"/>
                    <a:pt x="409264" y="1005561"/>
                    <a:pt x="386610" y="1028215"/>
                  </a:cubicBezTo>
                  <a:cubicBezTo>
                    <a:pt x="363956" y="1050869"/>
                    <a:pt x="333231" y="1063596"/>
                    <a:pt x="301193" y="1063596"/>
                  </a:cubicBezTo>
                  <a:lnTo>
                    <a:pt x="120798" y="1063596"/>
                  </a:lnTo>
                  <a:cubicBezTo>
                    <a:pt x="88760" y="1063596"/>
                    <a:pt x="58035" y="1050869"/>
                    <a:pt x="35381" y="1028215"/>
                  </a:cubicBezTo>
                  <a:cubicBezTo>
                    <a:pt x="12727" y="1005561"/>
                    <a:pt x="0" y="974836"/>
                    <a:pt x="0" y="942798"/>
                  </a:cubicBezTo>
                  <a:lnTo>
                    <a:pt x="0" y="120798"/>
                  </a:lnTo>
                  <a:cubicBezTo>
                    <a:pt x="0" y="88760"/>
                    <a:pt x="12727" y="58035"/>
                    <a:pt x="35381" y="35381"/>
                  </a:cubicBezTo>
                  <a:cubicBezTo>
                    <a:pt x="58035" y="12727"/>
                    <a:pt x="88760" y="0"/>
                    <a:pt x="1207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5400000"/>
            </a:gradFill>
            <a:ln w="47625" cap="rnd">
              <a:solidFill>
                <a:srgbClr val="F0F7F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421991" cy="1035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018073" y="5632963"/>
            <a:ext cx="309496" cy="527005"/>
          </a:xfrm>
          <a:custGeom>
            <a:avLst/>
            <a:gdLst/>
            <a:ahLst/>
            <a:cxnLst/>
            <a:rect r="r" b="b" t="t" l="l"/>
            <a:pathLst>
              <a:path h="527005" w="309496">
                <a:moveTo>
                  <a:pt x="0" y="0"/>
                </a:moveTo>
                <a:lnTo>
                  <a:pt x="309496" y="0"/>
                </a:lnTo>
                <a:lnTo>
                  <a:pt x="309496" y="527005"/>
                </a:lnTo>
                <a:lnTo>
                  <a:pt x="0" y="5270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68283" y="4723061"/>
            <a:ext cx="5378523" cy="253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Administração complexa de informações acadêmicas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Processos manuais e dados distribuídos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Dados duplicados e inconsistentes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Erros no lançamento de notas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Dificuldades no controle de matrículas e históricos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Solução: Sistema Acadêmico centralizado para organizar e integrar todas as informações institucionais.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68283" y="4193737"/>
            <a:ext cx="3038854" cy="30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45"/>
              </a:lnSpc>
              <a:spcBef>
                <a:spcPct val="0"/>
              </a:spcBef>
            </a:pPr>
            <a:r>
              <a:rPr lang="en-US" b="true" sz="2138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89781" y="3613792"/>
            <a:ext cx="7491239" cy="4038341"/>
            <a:chOff x="0" y="0"/>
            <a:chExt cx="1973001" cy="10635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73001" cy="1063596"/>
            </a:xfrm>
            <a:custGeom>
              <a:avLst/>
              <a:gdLst/>
              <a:ahLst/>
              <a:cxnLst/>
              <a:rect r="r" b="b" t="t" l="l"/>
              <a:pathLst>
                <a:path h="1063596" w="1973001">
                  <a:moveTo>
                    <a:pt x="25837" y="0"/>
                  </a:moveTo>
                  <a:lnTo>
                    <a:pt x="1947165" y="0"/>
                  </a:lnTo>
                  <a:cubicBezTo>
                    <a:pt x="1961434" y="0"/>
                    <a:pt x="1973001" y="11567"/>
                    <a:pt x="1973001" y="25837"/>
                  </a:cubicBezTo>
                  <a:lnTo>
                    <a:pt x="1973001" y="1037759"/>
                  </a:lnTo>
                  <a:cubicBezTo>
                    <a:pt x="1973001" y="1052029"/>
                    <a:pt x="1961434" y="1063596"/>
                    <a:pt x="1947165" y="1063596"/>
                  </a:cubicBezTo>
                  <a:lnTo>
                    <a:pt x="25837" y="1063596"/>
                  </a:lnTo>
                  <a:cubicBezTo>
                    <a:pt x="11567" y="1063596"/>
                    <a:pt x="0" y="1052029"/>
                    <a:pt x="0" y="1037759"/>
                  </a:cubicBezTo>
                  <a:lnTo>
                    <a:pt x="0" y="25837"/>
                  </a:lnTo>
                  <a:cubicBezTo>
                    <a:pt x="0" y="11567"/>
                    <a:pt x="11567" y="0"/>
                    <a:pt x="25837" y="0"/>
                  </a:cubicBezTo>
                  <a:close/>
                </a:path>
              </a:pathLst>
            </a:custGeom>
            <a:ln w="47625" cap="rnd">
              <a:solidFill>
                <a:srgbClr val="F0F7FE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973001" cy="1035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89781" y="3613792"/>
            <a:ext cx="1602246" cy="4038341"/>
            <a:chOff x="0" y="0"/>
            <a:chExt cx="421991" cy="10635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1991" cy="1063596"/>
            </a:xfrm>
            <a:custGeom>
              <a:avLst/>
              <a:gdLst/>
              <a:ahLst/>
              <a:cxnLst/>
              <a:rect r="r" b="b" t="t" l="l"/>
              <a:pathLst>
                <a:path h="1063596" w="421991">
                  <a:moveTo>
                    <a:pt x="120798" y="0"/>
                  </a:moveTo>
                  <a:lnTo>
                    <a:pt x="301193" y="0"/>
                  </a:lnTo>
                  <a:cubicBezTo>
                    <a:pt x="333231" y="0"/>
                    <a:pt x="363956" y="12727"/>
                    <a:pt x="386610" y="35381"/>
                  </a:cubicBezTo>
                  <a:cubicBezTo>
                    <a:pt x="409264" y="58035"/>
                    <a:pt x="421991" y="88760"/>
                    <a:pt x="421991" y="120798"/>
                  </a:cubicBezTo>
                  <a:lnTo>
                    <a:pt x="421991" y="942798"/>
                  </a:lnTo>
                  <a:cubicBezTo>
                    <a:pt x="421991" y="974836"/>
                    <a:pt x="409264" y="1005561"/>
                    <a:pt x="386610" y="1028215"/>
                  </a:cubicBezTo>
                  <a:cubicBezTo>
                    <a:pt x="363956" y="1050869"/>
                    <a:pt x="333231" y="1063596"/>
                    <a:pt x="301193" y="1063596"/>
                  </a:cubicBezTo>
                  <a:lnTo>
                    <a:pt x="120798" y="1063596"/>
                  </a:lnTo>
                  <a:cubicBezTo>
                    <a:pt x="88760" y="1063596"/>
                    <a:pt x="58035" y="1050869"/>
                    <a:pt x="35381" y="1028215"/>
                  </a:cubicBezTo>
                  <a:cubicBezTo>
                    <a:pt x="12727" y="1005561"/>
                    <a:pt x="0" y="974836"/>
                    <a:pt x="0" y="942798"/>
                  </a:cubicBezTo>
                  <a:lnTo>
                    <a:pt x="0" y="120798"/>
                  </a:lnTo>
                  <a:cubicBezTo>
                    <a:pt x="0" y="88760"/>
                    <a:pt x="12727" y="58035"/>
                    <a:pt x="35381" y="35381"/>
                  </a:cubicBezTo>
                  <a:cubicBezTo>
                    <a:pt x="58035" y="12727"/>
                    <a:pt x="88760" y="0"/>
                    <a:pt x="1207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5400000"/>
            </a:gradFill>
            <a:ln w="47625" cap="rnd">
              <a:solidFill>
                <a:srgbClr val="F0F7FE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421991" cy="1035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236157" y="5632963"/>
            <a:ext cx="309496" cy="527005"/>
          </a:xfrm>
          <a:custGeom>
            <a:avLst/>
            <a:gdLst/>
            <a:ahLst/>
            <a:cxnLst/>
            <a:rect r="r" b="b" t="t" l="l"/>
            <a:pathLst>
              <a:path h="527005" w="309496">
                <a:moveTo>
                  <a:pt x="0" y="0"/>
                </a:moveTo>
                <a:lnTo>
                  <a:pt x="309496" y="0"/>
                </a:lnTo>
                <a:lnTo>
                  <a:pt x="309496" y="527005"/>
                </a:lnTo>
                <a:lnTo>
                  <a:pt x="0" y="5270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486367" y="4895621"/>
            <a:ext cx="5162702" cy="1623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Cadastro de alunos e professores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Cadastro de disciplinas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Gerenciamento de turmas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Realização de matrículas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Lançamento e consulta de notas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Emissão de histórico acadêmico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Controle de acesso por tipo de usuário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86367" y="4193737"/>
            <a:ext cx="3038854" cy="30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45"/>
              </a:lnSpc>
              <a:spcBef>
                <a:spcPct val="0"/>
              </a:spcBef>
            </a:pPr>
            <a:r>
              <a:rPr lang="en-US" b="true" sz="2138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ESCOPO DO SISTEMA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-818104" y="-969648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0055" y="9304465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39091"/>
            <a:ext cx="6204421" cy="1284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75"/>
              </a:lnSpc>
            </a:pPr>
            <a:r>
              <a:rPr lang="en-US" b="true" sz="4738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REQUISITOS</a:t>
            </a:r>
          </a:p>
          <a:p>
            <a:pPr algn="l" marL="0" indent="0" lvl="0">
              <a:lnSpc>
                <a:spcPts val="4975"/>
              </a:lnSpc>
            </a:pPr>
            <a:r>
              <a:rPr lang="en-US" b="true" sz="4738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FUNCIONAIS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3814245"/>
            <a:ext cx="6351521" cy="5099108"/>
          </a:xfrm>
          <a:custGeom>
            <a:avLst/>
            <a:gdLst/>
            <a:ahLst/>
            <a:cxnLst/>
            <a:rect r="r" b="b" t="t" l="l"/>
            <a:pathLst>
              <a:path h="5099108" w="6351521">
                <a:moveTo>
                  <a:pt x="0" y="0"/>
                </a:moveTo>
                <a:lnTo>
                  <a:pt x="6351521" y="0"/>
                </a:lnTo>
                <a:lnTo>
                  <a:pt x="6351521" y="5099108"/>
                </a:lnTo>
                <a:lnTo>
                  <a:pt x="0" y="5099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755096" y="560569"/>
            <a:ext cx="11110293" cy="9293178"/>
            <a:chOff x="0" y="0"/>
            <a:chExt cx="2926168" cy="24475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26168" cy="2447586"/>
            </a:xfrm>
            <a:custGeom>
              <a:avLst/>
              <a:gdLst/>
              <a:ahLst/>
              <a:cxnLst/>
              <a:rect r="r" b="b" t="t" l="l"/>
              <a:pathLst>
                <a:path h="2447586" w="2926168">
                  <a:moveTo>
                    <a:pt x="17421" y="0"/>
                  </a:moveTo>
                  <a:lnTo>
                    <a:pt x="2908747" y="0"/>
                  </a:lnTo>
                  <a:cubicBezTo>
                    <a:pt x="2918368" y="0"/>
                    <a:pt x="2926168" y="7799"/>
                    <a:pt x="2926168" y="17421"/>
                  </a:cubicBezTo>
                  <a:lnTo>
                    <a:pt x="2926168" y="2430165"/>
                  </a:lnTo>
                  <a:cubicBezTo>
                    <a:pt x="2926168" y="2439786"/>
                    <a:pt x="2918368" y="2447586"/>
                    <a:pt x="2908747" y="2447586"/>
                  </a:cubicBezTo>
                  <a:lnTo>
                    <a:pt x="17421" y="2447586"/>
                  </a:lnTo>
                  <a:cubicBezTo>
                    <a:pt x="7799" y="2447586"/>
                    <a:pt x="0" y="2439786"/>
                    <a:pt x="0" y="2430165"/>
                  </a:cubicBezTo>
                  <a:lnTo>
                    <a:pt x="0" y="17421"/>
                  </a:lnTo>
                  <a:cubicBezTo>
                    <a:pt x="0" y="7799"/>
                    <a:pt x="7799" y="0"/>
                    <a:pt x="174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5400000"/>
            </a:gradFill>
            <a:ln w="47625" cap="rnd">
              <a:solidFill>
                <a:srgbClr val="F0F7F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926168" cy="2419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17551" y="1480331"/>
            <a:ext cx="5389462" cy="835156"/>
            <a:chOff x="0" y="0"/>
            <a:chExt cx="1271952" cy="1971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1952" cy="197103"/>
            </a:xfrm>
            <a:custGeom>
              <a:avLst/>
              <a:gdLst/>
              <a:ahLst/>
              <a:cxnLst/>
              <a:rect r="r" b="b" t="t" l="l"/>
              <a:pathLst>
                <a:path h="197103" w="1271952">
                  <a:moveTo>
                    <a:pt x="35912" y="0"/>
                  </a:moveTo>
                  <a:lnTo>
                    <a:pt x="1236039" y="0"/>
                  </a:lnTo>
                  <a:cubicBezTo>
                    <a:pt x="1245564" y="0"/>
                    <a:pt x="1254698" y="3784"/>
                    <a:pt x="1261433" y="10518"/>
                  </a:cubicBezTo>
                  <a:cubicBezTo>
                    <a:pt x="1268168" y="17253"/>
                    <a:pt x="1271952" y="26388"/>
                    <a:pt x="1271952" y="35912"/>
                  </a:cubicBezTo>
                  <a:lnTo>
                    <a:pt x="1271952" y="161190"/>
                  </a:lnTo>
                  <a:cubicBezTo>
                    <a:pt x="1271952" y="170715"/>
                    <a:pt x="1268168" y="179849"/>
                    <a:pt x="1261433" y="186584"/>
                  </a:cubicBezTo>
                  <a:cubicBezTo>
                    <a:pt x="1254698" y="193319"/>
                    <a:pt x="1245564" y="197103"/>
                    <a:pt x="1236039" y="197103"/>
                  </a:cubicBezTo>
                  <a:lnTo>
                    <a:pt x="35912" y="197103"/>
                  </a:lnTo>
                  <a:cubicBezTo>
                    <a:pt x="26388" y="197103"/>
                    <a:pt x="17253" y="193319"/>
                    <a:pt x="10518" y="186584"/>
                  </a:cubicBezTo>
                  <a:cubicBezTo>
                    <a:pt x="3784" y="179849"/>
                    <a:pt x="0" y="170715"/>
                    <a:pt x="0" y="161190"/>
                  </a:cubicBezTo>
                  <a:lnTo>
                    <a:pt x="0" y="35912"/>
                  </a:lnTo>
                  <a:cubicBezTo>
                    <a:pt x="0" y="26388"/>
                    <a:pt x="3784" y="17253"/>
                    <a:pt x="10518" y="10518"/>
                  </a:cubicBezTo>
                  <a:cubicBezTo>
                    <a:pt x="17253" y="3784"/>
                    <a:pt x="26388" y="0"/>
                    <a:pt x="359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1271952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424931" y="1610445"/>
            <a:ext cx="345385" cy="588117"/>
          </a:xfrm>
          <a:custGeom>
            <a:avLst/>
            <a:gdLst/>
            <a:ahLst/>
            <a:cxnLst/>
            <a:rect r="r" b="b" t="t" l="l"/>
            <a:pathLst>
              <a:path h="588117" w="345385">
                <a:moveTo>
                  <a:pt x="0" y="0"/>
                </a:moveTo>
                <a:lnTo>
                  <a:pt x="345385" y="0"/>
                </a:lnTo>
                <a:lnTo>
                  <a:pt x="345385" y="588117"/>
                </a:lnTo>
                <a:lnTo>
                  <a:pt x="0" y="588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939195" y="1737155"/>
            <a:ext cx="4667817" cy="34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05"/>
              </a:lnSpc>
              <a:spcBef>
                <a:spcPct val="0"/>
              </a:spcBef>
            </a:pPr>
            <a:r>
              <a:rPr lang="en-US" b="true" sz="2386" spc="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CADASTROS E MATRÍCULAS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24931" y="2585391"/>
            <a:ext cx="7288053" cy="1303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38"/>
              </a:lnSpc>
              <a:spcBef>
                <a:spcPct val="0"/>
              </a:spcBef>
            </a:pPr>
            <a:r>
              <a:rPr lang="en-US" sz="1941" spc="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RF01 – Cadastrar alunos  </a:t>
            </a:r>
          </a:p>
          <a:p>
            <a:pPr algn="just" marL="0" indent="0" lvl="0">
              <a:lnSpc>
                <a:spcPts val="2038"/>
              </a:lnSpc>
              <a:spcBef>
                <a:spcPct val="0"/>
              </a:spcBef>
            </a:pPr>
            <a:r>
              <a:rPr lang="en-US" sz="1941" spc="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RF02 – Cadastrar professores  </a:t>
            </a:r>
          </a:p>
          <a:p>
            <a:pPr algn="just" marL="0" indent="0" lvl="0">
              <a:lnSpc>
                <a:spcPts val="2038"/>
              </a:lnSpc>
              <a:spcBef>
                <a:spcPct val="0"/>
              </a:spcBef>
            </a:pPr>
            <a:r>
              <a:rPr lang="en-US" sz="1941" spc="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RF03 – Cadastrar disciplinas   </a:t>
            </a:r>
          </a:p>
          <a:p>
            <a:pPr algn="just" marL="0" indent="0" lvl="0">
              <a:lnSpc>
                <a:spcPts val="2038"/>
              </a:lnSpc>
              <a:spcBef>
                <a:spcPct val="0"/>
              </a:spcBef>
            </a:pPr>
            <a:r>
              <a:rPr lang="en-US" sz="1941" spc="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RF04 – Gerenciar turmas   </a:t>
            </a:r>
          </a:p>
          <a:p>
            <a:pPr algn="just" marL="0" indent="0" lvl="0">
              <a:lnSpc>
                <a:spcPts val="2038"/>
              </a:lnSpc>
              <a:spcBef>
                <a:spcPct val="0"/>
              </a:spcBef>
            </a:pPr>
            <a:r>
              <a:rPr lang="en-US" sz="1941" spc="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RF05 – Realizar matrículas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17551" y="4387982"/>
            <a:ext cx="5389462" cy="835156"/>
            <a:chOff x="0" y="0"/>
            <a:chExt cx="1271952" cy="1971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1952" cy="197103"/>
            </a:xfrm>
            <a:custGeom>
              <a:avLst/>
              <a:gdLst/>
              <a:ahLst/>
              <a:cxnLst/>
              <a:rect r="r" b="b" t="t" l="l"/>
              <a:pathLst>
                <a:path h="197103" w="1271952">
                  <a:moveTo>
                    <a:pt x="35912" y="0"/>
                  </a:moveTo>
                  <a:lnTo>
                    <a:pt x="1236039" y="0"/>
                  </a:lnTo>
                  <a:cubicBezTo>
                    <a:pt x="1245564" y="0"/>
                    <a:pt x="1254698" y="3784"/>
                    <a:pt x="1261433" y="10518"/>
                  </a:cubicBezTo>
                  <a:cubicBezTo>
                    <a:pt x="1268168" y="17253"/>
                    <a:pt x="1271952" y="26388"/>
                    <a:pt x="1271952" y="35912"/>
                  </a:cubicBezTo>
                  <a:lnTo>
                    <a:pt x="1271952" y="161190"/>
                  </a:lnTo>
                  <a:cubicBezTo>
                    <a:pt x="1271952" y="170715"/>
                    <a:pt x="1268168" y="179849"/>
                    <a:pt x="1261433" y="186584"/>
                  </a:cubicBezTo>
                  <a:cubicBezTo>
                    <a:pt x="1254698" y="193319"/>
                    <a:pt x="1245564" y="197103"/>
                    <a:pt x="1236039" y="197103"/>
                  </a:cubicBezTo>
                  <a:lnTo>
                    <a:pt x="35912" y="197103"/>
                  </a:lnTo>
                  <a:cubicBezTo>
                    <a:pt x="26388" y="197103"/>
                    <a:pt x="17253" y="193319"/>
                    <a:pt x="10518" y="186584"/>
                  </a:cubicBezTo>
                  <a:cubicBezTo>
                    <a:pt x="3784" y="179849"/>
                    <a:pt x="0" y="170715"/>
                    <a:pt x="0" y="161190"/>
                  </a:cubicBezTo>
                  <a:lnTo>
                    <a:pt x="0" y="35912"/>
                  </a:lnTo>
                  <a:cubicBezTo>
                    <a:pt x="0" y="26388"/>
                    <a:pt x="3784" y="17253"/>
                    <a:pt x="10518" y="10518"/>
                  </a:cubicBezTo>
                  <a:cubicBezTo>
                    <a:pt x="17253" y="3784"/>
                    <a:pt x="26388" y="0"/>
                    <a:pt x="359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1271952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424931" y="4518096"/>
            <a:ext cx="345385" cy="588117"/>
          </a:xfrm>
          <a:custGeom>
            <a:avLst/>
            <a:gdLst/>
            <a:ahLst/>
            <a:cxnLst/>
            <a:rect r="r" b="b" t="t" l="l"/>
            <a:pathLst>
              <a:path h="588117" w="345385">
                <a:moveTo>
                  <a:pt x="0" y="0"/>
                </a:moveTo>
                <a:lnTo>
                  <a:pt x="345385" y="0"/>
                </a:lnTo>
                <a:lnTo>
                  <a:pt x="345385" y="588117"/>
                </a:lnTo>
                <a:lnTo>
                  <a:pt x="0" y="588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939195" y="4644807"/>
            <a:ext cx="3391239" cy="34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05"/>
              </a:lnSpc>
              <a:spcBef>
                <a:spcPct val="0"/>
              </a:spcBef>
            </a:pPr>
            <a:r>
              <a:rPr lang="en-US" b="true" sz="2386" spc="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NOTAS E HISTÓRICO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17551" y="5560060"/>
            <a:ext cx="9796451" cy="79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38"/>
              </a:lnSpc>
              <a:spcBef>
                <a:spcPct val="0"/>
              </a:spcBef>
            </a:pPr>
            <a:r>
              <a:rPr lang="en-US" sz="1941" spc="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RF06 – Lançar notas    </a:t>
            </a:r>
          </a:p>
          <a:p>
            <a:pPr algn="just" marL="0" indent="0" lvl="0">
              <a:lnSpc>
                <a:spcPts val="2038"/>
              </a:lnSpc>
              <a:spcBef>
                <a:spcPct val="0"/>
              </a:spcBef>
            </a:pPr>
            <a:r>
              <a:rPr lang="en-US" sz="1941" spc="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RF07 – Consultar notas    </a:t>
            </a:r>
          </a:p>
          <a:p>
            <a:pPr algn="just" marL="0" indent="0" lvl="0">
              <a:lnSpc>
                <a:spcPts val="2038"/>
              </a:lnSpc>
              <a:spcBef>
                <a:spcPct val="0"/>
              </a:spcBef>
            </a:pPr>
            <a:r>
              <a:rPr lang="en-US" sz="1941" spc="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RF08 – Emitir histórico acadêmico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17551" y="7096913"/>
            <a:ext cx="5389462" cy="835156"/>
            <a:chOff x="0" y="0"/>
            <a:chExt cx="1271952" cy="1971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71952" cy="197103"/>
            </a:xfrm>
            <a:custGeom>
              <a:avLst/>
              <a:gdLst/>
              <a:ahLst/>
              <a:cxnLst/>
              <a:rect r="r" b="b" t="t" l="l"/>
              <a:pathLst>
                <a:path h="197103" w="1271952">
                  <a:moveTo>
                    <a:pt x="35912" y="0"/>
                  </a:moveTo>
                  <a:lnTo>
                    <a:pt x="1236039" y="0"/>
                  </a:lnTo>
                  <a:cubicBezTo>
                    <a:pt x="1245564" y="0"/>
                    <a:pt x="1254698" y="3784"/>
                    <a:pt x="1261433" y="10518"/>
                  </a:cubicBezTo>
                  <a:cubicBezTo>
                    <a:pt x="1268168" y="17253"/>
                    <a:pt x="1271952" y="26388"/>
                    <a:pt x="1271952" y="35912"/>
                  </a:cubicBezTo>
                  <a:lnTo>
                    <a:pt x="1271952" y="161190"/>
                  </a:lnTo>
                  <a:cubicBezTo>
                    <a:pt x="1271952" y="170715"/>
                    <a:pt x="1268168" y="179849"/>
                    <a:pt x="1261433" y="186584"/>
                  </a:cubicBezTo>
                  <a:cubicBezTo>
                    <a:pt x="1254698" y="193319"/>
                    <a:pt x="1245564" y="197103"/>
                    <a:pt x="1236039" y="197103"/>
                  </a:cubicBezTo>
                  <a:lnTo>
                    <a:pt x="35912" y="197103"/>
                  </a:lnTo>
                  <a:cubicBezTo>
                    <a:pt x="26388" y="197103"/>
                    <a:pt x="17253" y="193319"/>
                    <a:pt x="10518" y="186584"/>
                  </a:cubicBezTo>
                  <a:cubicBezTo>
                    <a:pt x="3784" y="179849"/>
                    <a:pt x="0" y="170715"/>
                    <a:pt x="0" y="161190"/>
                  </a:cubicBezTo>
                  <a:lnTo>
                    <a:pt x="0" y="35912"/>
                  </a:lnTo>
                  <a:cubicBezTo>
                    <a:pt x="0" y="26388"/>
                    <a:pt x="3784" y="17253"/>
                    <a:pt x="10518" y="10518"/>
                  </a:cubicBezTo>
                  <a:cubicBezTo>
                    <a:pt x="17253" y="3784"/>
                    <a:pt x="26388" y="0"/>
                    <a:pt x="359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271952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424931" y="7227027"/>
            <a:ext cx="345385" cy="588117"/>
          </a:xfrm>
          <a:custGeom>
            <a:avLst/>
            <a:gdLst/>
            <a:ahLst/>
            <a:cxnLst/>
            <a:rect r="r" b="b" t="t" l="l"/>
            <a:pathLst>
              <a:path h="588117" w="345385">
                <a:moveTo>
                  <a:pt x="0" y="0"/>
                </a:moveTo>
                <a:lnTo>
                  <a:pt x="345385" y="0"/>
                </a:lnTo>
                <a:lnTo>
                  <a:pt x="345385" y="588117"/>
                </a:lnTo>
                <a:lnTo>
                  <a:pt x="0" y="588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939195" y="7353737"/>
            <a:ext cx="3391239" cy="34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05"/>
              </a:lnSpc>
              <a:spcBef>
                <a:spcPct val="0"/>
              </a:spcBef>
            </a:pPr>
            <a:r>
              <a:rPr lang="en-US" b="true" sz="2386" spc="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FLUXO CRÍTICO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17551" y="8268990"/>
            <a:ext cx="9796451" cy="537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38"/>
              </a:lnSpc>
              <a:spcBef>
                <a:spcPct val="0"/>
              </a:spcBef>
            </a:pPr>
            <a:r>
              <a:rPr lang="en-US" sz="1941" spc="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Aluno  →  Seleção da Turma  →  Verificação de Requisitos  →  Matrícula  →  Confirmação.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-818104" y="-969648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33483" y="-5083807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2221" y="2599094"/>
            <a:ext cx="16751720" cy="6792083"/>
            <a:chOff x="0" y="0"/>
            <a:chExt cx="4145992" cy="1681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45992" cy="1681017"/>
            </a:xfrm>
            <a:custGeom>
              <a:avLst/>
              <a:gdLst/>
              <a:ahLst/>
              <a:cxnLst/>
              <a:rect r="r" b="b" t="t" l="l"/>
              <a:pathLst>
                <a:path h="1681017" w="4145992">
                  <a:moveTo>
                    <a:pt x="7857" y="0"/>
                  </a:moveTo>
                  <a:lnTo>
                    <a:pt x="4138135" y="0"/>
                  </a:lnTo>
                  <a:cubicBezTo>
                    <a:pt x="4140219" y="0"/>
                    <a:pt x="4142217" y="828"/>
                    <a:pt x="4143691" y="2301"/>
                  </a:cubicBezTo>
                  <a:cubicBezTo>
                    <a:pt x="4145164" y="3775"/>
                    <a:pt x="4145992" y="5773"/>
                    <a:pt x="4145992" y="7857"/>
                  </a:cubicBezTo>
                  <a:lnTo>
                    <a:pt x="4145992" y="1673160"/>
                  </a:lnTo>
                  <a:cubicBezTo>
                    <a:pt x="4145992" y="1675244"/>
                    <a:pt x="4145164" y="1677242"/>
                    <a:pt x="4143691" y="1678716"/>
                  </a:cubicBezTo>
                  <a:cubicBezTo>
                    <a:pt x="4142217" y="1680189"/>
                    <a:pt x="4140219" y="1681017"/>
                    <a:pt x="4138135" y="1681017"/>
                  </a:cubicBezTo>
                  <a:lnTo>
                    <a:pt x="7857" y="1681017"/>
                  </a:lnTo>
                  <a:cubicBezTo>
                    <a:pt x="5773" y="1681017"/>
                    <a:pt x="3775" y="1680189"/>
                    <a:pt x="2301" y="1678716"/>
                  </a:cubicBezTo>
                  <a:cubicBezTo>
                    <a:pt x="828" y="1677242"/>
                    <a:pt x="0" y="1675244"/>
                    <a:pt x="0" y="1673160"/>
                  </a:cubicBezTo>
                  <a:lnTo>
                    <a:pt x="0" y="7857"/>
                  </a:lnTo>
                  <a:cubicBezTo>
                    <a:pt x="0" y="5773"/>
                    <a:pt x="828" y="3775"/>
                    <a:pt x="2301" y="2301"/>
                  </a:cubicBezTo>
                  <a:cubicBezTo>
                    <a:pt x="3775" y="828"/>
                    <a:pt x="5773" y="0"/>
                    <a:pt x="7857" y="0"/>
                  </a:cubicBezTo>
                  <a:close/>
                </a:path>
              </a:pathLst>
            </a:custGeom>
            <a:ln w="57150" cap="sq">
              <a:solidFill>
                <a:srgbClr val="F0F7F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145992" cy="1652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35970" y="3268231"/>
            <a:ext cx="4058891" cy="796386"/>
            <a:chOff x="0" y="0"/>
            <a:chExt cx="1004561" cy="1971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47685" y="0"/>
                  </a:moveTo>
                  <a:lnTo>
                    <a:pt x="956876" y="0"/>
                  </a:lnTo>
                  <a:cubicBezTo>
                    <a:pt x="969523" y="0"/>
                    <a:pt x="981652" y="5024"/>
                    <a:pt x="990595" y="13967"/>
                  </a:cubicBezTo>
                  <a:cubicBezTo>
                    <a:pt x="999537" y="22909"/>
                    <a:pt x="1004561" y="35038"/>
                    <a:pt x="1004561" y="47685"/>
                  </a:cubicBezTo>
                  <a:lnTo>
                    <a:pt x="1004561" y="149418"/>
                  </a:lnTo>
                  <a:cubicBezTo>
                    <a:pt x="1004561" y="162065"/>
                    <a:pt x="999537" y="174193"/>
                    <a:pt x="990595" y="183136"/>
                  </a:cubicBezTo>
                  <a:cubicBezTo>
                    <a:pt x="981652" y="192079"/>
                    <a:pt x="969523" y="197103"/>
                    <a:pt x="956876" y="197103"/>
                  </a:cubicBezTo>
                  <a:lnTo>
                    <a:pt x="47685" y="197103"/>
                  </a:lnTo>
                  <a:cubicBezTo>
                    <a:pt x="21349" y="197103"/>
                    <a:pt x="0" y="175753"/>
                    <a:pt x="0" y="149418"/>
                  </a:cubicBezTo>
                  <a:lnTo>
                    <a:pt x="0" y="47685"/>
                  </a:lnTo>
                  <a:cubicBezTo>
                    <a:pt x="0" y="21349"/>
                    <a:pt x="21349" y="0"/>
                    <a:pt x="47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3723" y="3392304"/>
            <a:ext cx="329351" cy="560815"/>
          </a:xfrm>
          <a:custGeom>
            <a:avLst/>
            <a:gdLst/>
            <a:ahLst/>
            <a:cxnLst/>
            <a:rect r="r" b="b" t="t" l="l"/>
            <a:pathLst>
              <a:path h="560815" w="329351">
                <a:moveTo>
                  <a:pt x="0" y="0"/>
                </a:moveTo>
                <a:lnTo>
                  <a:pt x="329351" y="0"/>
                </a:lnTo>
                <a:lnTo>
                  <a:pt x="329351" y="560816"/>
                </a:lnTo>
                <a:lnTo>
                  <a:pt x="0" y="5608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69756" y="1269069"/>
            <a:ext cx="11069562" cy="115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33"/>
              </a:lnSpc>
            </a:pPr>
            <a:r>
              <a:rPr lang="en-US" b="true" sz="4317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REQUISITOS NÃO FUNCIONAIS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24114" y="3494525"/>
            <a:ext cx="3233810" cy="26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01"/>
              </a:lnSpc>
              <a:spcBef>
                <a:spcPct val="0"/>
              </a:spcBef>
            </a:pPr>
            <a:r>
              <a:rPr lang="en-US" b="true" sz="1715" spc="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DESEMPENHO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35970" y="4294722"/>
            <a:ext cx="7122111" cy="148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95% das operações principais executadas em até 3 segundos.</a:t>
            </a: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Respostas rápidas para consultas e matrículas</a:t>
            </a: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Otimização de queries e cache de dados</a:t>
            </a: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Monitoramento contínuo de performance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984659" y="653111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3"/>
                </a:lnTo>
                <a:lnTo>
                  <a:pt x="0" y="549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035970" y="6388909"/>
            <a:ext cx="4058891" cy="796386"/>
            <a:chOff x="0" y="0"/>
            <a:chExt cx="1004561" cy="1971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47685" y="0"/>
                  </a:moveTo>
                  <a:lnTo>
                    <a:pt x="956876" y="0"/>
                  </a:lnTo>
                  <a:cubicBezTo>
                    <a:pt x="969523" y="0"/>
                    <a:pt x="981652" y="5024"/>
                    <a:pt x="990595" y="13967"/>
                  </a:cubicBezTo>
                  <a:cubicBezTo>
                    <a:pt x="999537" y="22909"/>
                    <a:pt x="1004561" y="35038"/>
                    <a:pt x="1004561" y="47685"/>
                  </a:cubicBezTo>
                  <a:lnTo>
                    <a:pt x="1004561" y="149418"/>
                  </a:lnTo>
                  <a:cubicBezTo>
                    <a:pt x="1004561" y="162065"/>
                    <a:pt x="999537" y="174193"/>
                    <a:pt x="990595" y="183136"/>
                  </a:cubicBezTo>
                  <a:cubicBezTo>
                    <a:pt x="981652" y="192079"/>
                    <a:pt x="969523" y="197103"/>
                    <a:pt x="956876" y="197103"/>
                  </a:cubicBezTo>
                  <a:lnTo>
                    <a:pt x="47685" y="197103"/>
                  </a:lnTo>
                  <a:cubicBezTo>
                    <a:pt x="21349" y="197103"/>
                    <a:pt x="0" y="175753"/>
                    <a:pt x="0" y="149418"/>
                  </a:cubicBezTo>
                  <a:lnTo>
                    <a:pt x="0" y="47685"/>
                  </a:lnTo>
                  <a:cubicBezTo>
                    <a:pt x="0" y="21349"/>
                    <a:pt x="21349" y="0"/>
                    <a:pt x="47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233723" y="6512983"/>
            <a:ext cx="329351" cy="560815"/>
          </a:xfrm>
          <a:custGeom>
            <a:avLst/>
            <a:gdLst/>
            <a:ahLst/>
            <a:cxnLst/>
            <a:rect r="r" b="b" t="t" l="l"/>
            <a:pathLst>
              <a:path h="560815" w="329351">
                <a:moveTo>
                  <a:pt x="0" y="0"/>
                </a:moveTo>
                <a:lnTo>
                  <a:pt x="329351" y="0"/>
                </a:lnTo>
                <a:lnTo>
                  <a:pt x="329351" y="560815"/>
                </a:lnTo>
                <a:lnTo>
                  <a:pt x="0" y="560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24114" y="6615203"/>
            <a:ext cx="3233810" cy="26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01"/>
              </a:lnSpc>
              <a:spcBef>
                <a:spcPct val="0"/>
              </a:spcBef>
            </a:pPr>
            <a:r>
              <a:rPr lang="en-US" b="true" sz="1715" spc="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DISPONIBILIDADE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35970" y="7415400"/>
            <a:ext cx="6899475" cy="148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Meta mínima de 99% de uptime durante o funcionamento da instituição.</a:t>
            </a: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Alta disponibilidade nos períodos letivos</a:t>
            </a: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Plano de contingência e recuperação</a:t>
            </a: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Manutenções programadas fora do horário crítico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26879" y="3271406"/>
            <a:ext cx="4058891" cy="796386"/>
            <a:chOff x="0" y="0"/>
            <a:chExt cx="1004561" cy="1971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47685" y="0"/>
                  </a:moveTo>
                  <a:lnTo>
                    <a:pt x="956876" y="0"/>
                  </a:lnTo>
                  <a:cubicBezTo>
                    <a:pt x="969523" y="0"/>
                    <a:pt x="981652" y="5024"/>
                    <a:pt x="990595" y="13967"/>
                  </a:cubicBezTo>
                  <a:cubicBezTo>
                    <a:pt x="999537" y="22909"/>
                    <a:pt x="1004561" y="35038"/>
                    <a:pt x="1004561" y="47685"/>
                  </a:cubicBezTo>
                  <a:lnTo>
                    <a:pt x="1004561" y="149418"/>
                  </a:lnTo>
                  <a:cubicBezTo>
                    <a:pt x="1004561" y="162065"/>
                    <a:pt x="999537" y="174193"/>
                    <a:pt x="990595" y="183136"/>
                  </a:cubicBezTo>
                  <a:cubicBezTo>
                    <a:pt x="981652" y="192079"/>
                    <a:pt x="969523" y="197103"/>
                    <a:pt x="956876" y="197103"/>
                  </a:cubicBezTo>
                  <a:lnTo>
                    <a:pt x="47685" y="197103"/>
                  </a:lnTo>
                  <a:cubicBezTo>
                    <a:pt x="21349" y="197103"/>
                    <a:pt x="0" y="175753"/>
                    <a:pt x="0" y="149418"/>
                  </a:cubicBezTo>
                  <a:lnTo>
                    <a:pt x="0" y="47685"/>
                  </a:lnTo>
                  <a:cubicBezTo>
                    <a:pt x="0" y="21349"/>
                    <a:pt x="21349" y="0"/>
                    <a:pt x="47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24632" y="3395480"/>
            <a:ext cx="329351" cy="560815"/>
          </a:xfrm>
          <a:custGeom>
            <a:avLst/>
            <a:gdLst/>
            <a:ahLst/>
            <a:cxnLst/>
            <a:rect r="r" b="b" t="t" l="l"/>
            <a:pathLst>
              <a:path h="560815" w="329351">
                <a:moveTo>
                  <a:pt x="0" y="0"/>
                </a:moveTo>
                <a:lnTo>
                  <a:pt x="329351" y="0"/>
                </a:lnTo>
                <a:lnTo>
                  <a:pt x="329351" y="560815"/>
                </a:lnTo>
                <a:lnTo>
                  <a:pt x="0" y="560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715023" y="3497700"/>
            <a:ext cx="3233810" cy="26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01"/>
              </a:lnSpc>
              <a:spcBef>
                <a:spcPct val="0"/>
              </a:spcBef>
            </a:pPr>
            <a:r>
              <a:rPr lang="en-US" b="true" sz="1715" spc="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SEGURANÇA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26879" y="4297898"/>
            <a:ext cx="6762745" cy="148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Autenticação obrigatória e controle de acesso por perfil de usuário.</a:t>
            </a: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Perfis: Aluno, Professor, Administrador</a:t>
            </a: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Criptografia de dados sensíveis</a:t>
            </a: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Registro de logs de acesso e alterações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26879" y="6392084"/>
            <a:ext cx="4058891" cy="796386"/>
            <a:chOff x="0" y="0"/>
            <a:chExt cx="1004561" cy="1971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47685" y="0"/>
                  </a:moveTo>
                  <a:lnTo>
                    <a:pt x="956876" y="0"/>
                  </a:lnTo>
                  <a:cubicBezTo>
                    <a:pt x="969523" y="0"/>
                    <a:pt x="981652" y="5024"/>
                    <a:pt x="990595" y="13967"/>
                  </a:cubicBezTo>
                  <a:cubicBezTo>
                    <a:pt x="999537" y="22909"/>
                    <a:pt x="1004561" y="35038"/>
                    <a:pt x="1004561" y="47685"/>
                  </a:cubicBezTo>
                  <a:lnTo>
                    <a:pt x="1004561" y="149418"/>
                  </a:lnTo>
                  <a:cubicBezTo>
                    <a:pt x="1004561" y="162065"/>
                    <a:pt x="999537" y="174193"/>
                    <a:pt x="990595" y="183136"/>
                  </a:cubicBezTo>
                  <a:cubicBezTo>
                    <a:pt x="981652" y="192079"/>
                    <a:pt x="969523" y="197103"/>
                    <a:pt x="956876" y="197103"/>
                  </a:cubicBezTo>
                  <a:lnTo>
                    <a:pt x="47685" y="197103"/>
                  </a:lnTo>
                  <a:cubicBezTo>
                    <a:pt x="21349" y="197103"/>
                    <a:pt x="0" y="175753"/>
                    <a:pt x="0" y="149418"/>
                  </a:cubicBezTo>
                  <a:lnTo>
                    <a:pt x="0" y="47685"/>
                  </a:lnTo>
                  <a:cubicBezTo>
                    <a:pt x="0" y="21349"/>
                    <a:pt x="21349" y="0"/>
                    <a:pt x="47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224632" y="6516158"/>
            <a:ext cx="329351" cy="560815"/>
          </a:xfrm>
          <a:custGeom>
            <a:avLst/>
            <a:gdLst/>
            <a:ahLst/>
            <a:cxnLst/>
            <a:rect r="r" b="b" t="t" l="l"/>
            <a:pathLst>
              <a:path h="560815" w="329351">
                <a:moveTo>
                  <a:pt x="0" y="0"/>
                </a:moveTo>
                <a:lnTo>
                  <a:pt x="329351" y="0"/>
                </a:lnTo>
                <a:lnTo>
                  <a:pt x="329351" y="560815"/>
                </a:lnTo>
                <a:lnTo>
                  <a:pt x="0" y="560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715023" y="6618378"/>
            <a:ext cx="3370747" cy="26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01"/>
              </a:lnSpc>
              <a:spcBef>
                <a:spcPct val="0"/>
              </a:spcBef>
            </a:pPr>
            <a:r>
              <a:rPr lang="en-US" b="true" sz="1715" spc="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USABILIDADE &amp; PRIVACIDADE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26879" y="7418576"/>
            <a:ext cx="6762745" cy="148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Interface simples, organizada e de fácil utilização.</a:t>
            </a: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Privacidade conforme a LGPD:</a:t>
            </a: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Coleta mínima de dados pessoais</a:t>
            </a: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Consentimento e transparência no uso</a:t>
            </a:r>
          </a:p>
          <a:p>
            <a:pPr algn="just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850" spc="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Proteção e sigilo das informações acadêmicas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-1425604" y="-1405267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7"/>
                </a:lnTo>
                <a:lnTo>
                  <a:pt x="0" y="24339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246938" y="9572625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7"/>
                </a:lnTo>
                <a:lnTo>
                  <a:pt x="0" y="24339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33483" y="-5083807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13524" y="509932"/>
            <a:ext cx="8619959" cy="9775211"/>
          </a:xfrm>
          <a:custGeom>
            <a:avLst/>
            <a:gdLst/>
            <a:ahLst/>
            <a:cxnLst/>
            <a:rect r="r" b="b" t="t" l="l"/>
            <a:pathLst>
              <a:path h="9775211" w="8619959">
                <a:moveTo>
                  <a:pt x="0" y="0"/>
                </a:moveTo>
                <a:lnTo>
                  <a:pt x="8619959" y="0"/>
                </a:lnTo>
                <a:lnTo>
                  <a:pt x="8619959" y="9775212"/>
                </a:lnTo>
                <a:lnTo>
                  <a:pt x="0" y="977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84659" y="653111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3"/>
                </a:lnTo>
                <a:lnTo>
                  <a:pt x="0" y="549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39319" y="3303904"/>
            <a:ext cx="3224921" cy="6983096"/>
          </a:xfrm>
          <a:custGeom>
            <a:avLst/>
            <a:gdLst/>
            <a:ahLst/>
            <a:cxnLst/>
            <a:rect r="r" b="b" t="t" l="l"/>
            <a:pathLst>
              <a:path h="6983096" w="3224921">
                <a:moveTo>
                  <a:pt x="0" y="0"/>
                </a:moveTo>
                <a:lnTo>
                  <a:pt x="3224921" y="0"/>
                </a:lnTo>
                <a:lnTo>
                  <a:pt x="3224921" y="6983096"/>
                </a:lnTo>
                <a:lnTo>
                  <a:pt x="0" y="69830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11086" y="2441111"/>
            <a:ext cx="2876511" cy="3228737"/>
          </a:xfrm>
          <a:custGeom>
            <a:avLst/>
            <a:gdLst/>
            <a:ahLst/>
            <a:cxnLst/>
            <a:rect r="r" b="b" t="t" l="l"/>
            <a:pathLst>
              <a:path h="3228737" w="2876511">
                <a:moveTo>
                  <a:pt x="0" y="0"/>
                </a:moveTo>
                <a:lnTo>
                  <a:pt x="2876511" y="0"/>
                </a:lnTo>
                <a:lnTo>
                  <a:pt x="2876511" y="3228736"/>
                </a:lnTo>
                <a:lnTo>
                  <a:pt x="0" y="3228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2247" y="3302047"/>
            <a:ext cx="3224921" cy="6983096"/>
          </a:xfrm>
          <a:custGeom>
            <a:avLst/>
            <a:gdLst/>
            <a:ahLst/>
            <a:cxnLst/>
            <a:rect r="r" b="b" t="t" l="l"/>
            <a:pathLst>
              <a:path h="6983096" w="3224921">
                <a:moveTo>
                  <a:pt x="3224921" y="0"/>
                </a:moveTo>
                <a:lnTo>
                  <a:pt x="0" y="0"/>
                </a:lnTo>
                <a:lnTo>
                  <a:pt x="0" y="6983097"/>
                </a:lnTo>
                <a:lnTo>
                  <a:pt x="3224921" y="6983097"/>
                </a:lnTo>
                <a:lnTo>
                  <a:pt x="322492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324014" y="2439254"/>
            <a:ext cx="2876511" cy="3228737"/>
          </a:xfrm>
          <a:custGeom>
            <a:avLst/>
            <a:gdLst/>
            <a:ahLst/>
            <a:cxnLst/>
            <a:rect r="r" b="b" t="t" l="l"/>
            <a:pathLst>
              <a:path h="3228737" w="2876511">
                <a:moveTo>
                  <a:pt x="2876511" y="0"/>
                </a:moveTo>
                <a:lnTo>
                  <a:pt x="0" y="0"/>
                </a:lnTo>
                <a:lnTo>
                  <a:pt x="0" y="3228737"/>
                </a:lnTo>
                <a:lnTo>
                  <a:pt x="2876511" y="3228737"/>
                </a:lnTo>
                <a:lnTo>
                  <a:pt x="287651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48984" y="4299033"/>
            <a:ext cx="7949039" cy="5299360"/>
          </a:xfrm>
          <a:custGeom>
            <a:avLst/>
            <a:gdLst/>
            <a:ahLst/>
            <a:cxnLst/>
            <a:rect r="r" b="b" t="t" l="l"/>
            <a:pathLst>
              <a:path h="5299360" w="7949039">
                <a:moveTo>
                  <a:pt x="0" y="0"/>
                </a:moveTo>
                <a:lnTo>
                  <a:pt x="7949039" y="0"/>
                </a:lnTo>
                <a:lnTo>
                  <a:pt x="7949039" y="5299359"/>
                </a:lnTo>
                <a:lnTo>
                  <a:pt x="0" y="52993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74763" y="2488736"/>
            <a:ext cx="8538474" cy="45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88"/>
              </a:lnSpc>
            </a:pPr>
            <a:r>
              <a:rPr lang="en-US" b="true" sz="3322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ARQUITETURA DE DADOS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0238" y="3313429"/>
            <a:ext cx="6726531" cy="62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9"/>
              </a:lnSpc>
              <a:spcBef>
                <a:spcPct val="0"/>
              </a:spcBef>
            </a:pPr>
            <a:r>
              <a:rPr lang="en-US" sz="2237" spc="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Entidade-Relacionamento (DER)</a:t>
            </a:r>
          </a:p>
          <a:p>
            <a:pPr algn="ctr" marL="0" indent="0" lvl="0">
              <a:lnSpc>
                <a:spcPts val="2349"/>
              </a:lnSpc>
              <a:spcBef>
                <a:spcPct val="0"/>
              </a:spcBef>
            </a:pPr>
            <a:r>
              <a:rPr lang="en-US" sz="2237" spc="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Entidades principais do modelo: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33483" y="-5083807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13524" y="509932"/>
            <a:ext cx="8619959" cy="9775211"/>
          </a:xfrm>
          <a:custGeom>
            <a:avLst/>
            <a:gdLst/>
            <a:ahLst/>
            <a:cxnLst/>
            <a:rect r="r" b="b" t="t" l="l"/>
            <a:pathLst>
              <a:path h="9775211" w="8619959">
                <a:moveTo>
                  <a:pt x="0" y="0"/>
                </a:moveTo>
                <a:lnTo>
                  <a:pt x="8619959" y="0"/>
                </a:lnTo>
                <a:lnTo>
                  <a:pt x="8619959" y="9775212"/>
                </a:lnTo>
                <a:lnTo>
                  <a:pt x="0" y="977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84659" y="653111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3"/>
                </a:lnTo>
                <a:lnTo>
                  <a:pt x="0" y="549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39319" y="3303904"/>
            <a:ext cx="3224921" cy="6983096"/>
          </a:xfrm>
          <a:custGeom>
            <a:avLst/>
            <a:gdLst/>
            <a:ahLst/>
            <a:cxnLst/>
            <a:rect r="r" b="b" t="t" l="l"/>
            <a:pathLst>
              <a:path h="6983096" w="3224921">
                <a:moveTo>
                  <a:pt x="0" y="0"/>
                </a:moveTo>
                <a:lnTo>
                  <a:pt x="3224921" y="0"/>
                </a:lnTo>
                <a:lnTo>
                  <a:pt x="3224921" y="6983096"/>
                </a:lnTo>
                <a:lnTo>
                  <a:pt x="0" y="69830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11086" y="2441111"/>
            <a:ext cx="2876511" cy="3228737"/>
          </a:xfrm>
          <a:custGeom>
            <a:avLst/>
            <a:gdLst/>
            <a:ahLst/>
            <a:cxnLst/>
            <a:rect r="r" b="b" t="t" l="l"/>
            <a:pathLst>
              <a:path h="3228737" w="2876511">
                <a:moveTo>
                  <a:pt x="0" y="0"/>
                </a:moveTo>
                <a:lnTo>
                  <a:pt x="2876511" y="0"/>
                </a:lnTo>
                <a:lnTo>
                  <a:pt x="2876511" y="3228736"/>
                </a:lnTo>
                <a:lnTo>
                  <a:pt x="0" y="3228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2247" y="3302047"/>
            <a:ext cx="3224921" cy="6983096"/>
          </a:xfrm>
          <a:custGeom>
            <a:avLst/>
            <a:gdLst/>
            <a:ahLst/>
            <a:cxnLst/>
            <a:rect r="r" b="b" t="t" l="l"/>
            <a:pathLst>
              <a:path h="6983096" w="3224921">
                <a:moveTo>
                  <a:pt x="3224921" y="0"/>
                </a:moveTo>
                <a:lnTo>
                  <a:pt x="0" y="0"/>
                </a:lnTo>
                <a:lnTo>
                  <a:pt x="0" y="6983097"/>
                </a:lnTo>
                <a:lnTo>
                  <a:pt x="3224921" y="6983097"/>
                </a:lnTo>
                <a:lnTo>
                  <a:pt x="322492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324014" y="2439254"/>
            <a:ext cx="2876511" cy="3228737"/>
          </a:xfrm>
          <a:custGeom>
            <a:avLst/>
            <a:gdLst/>
            <a:ahLst/>
            <a:cxnLst/>
            <a:rect r="r" b="b" t="t" l="l"/>
            <a:pathLst>
              <a:path h="3228737" w="2876511">
                <a:moveTo>
                  <a:pt x="2876511" y="0"/>
                </a:moveTo>
                <a:lnTo>
                  <a:pt x="0" y="0"/>
                </a:lnTo>
                <a:lnTo>
                  <a:pt x="0" y="3228737"/>
                </a:lnTo>
                <a:lnTo>
                  <a:pt x="2876511" y="3228737"/>
                </a:lnTo>
                <a:lnTo>
                  <a:pt x="287651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88400" y="2568159"/>
            <a:ext cx="7263044" cy="7340457"/>
          </a:xfrm>
          <a:custGeom>
            <a:avLst/>
            <a:gdLst/>
            <a:ahLst/>
            <a:cxnLst/>
            <a:rect r="r" b="b" t="t" l="l"/>
            <a:pathLst>
              <a:path h="7340457" w="7263044">
                <a:moveTo>
                  <a:pt x="0" y="0"/>
                </a:moveTo>
                <a:lnTo>
                  <a:pt x="7263044" y="0"/>
                </a:lnTo>
                <a:lnTo>
                  <a:pt x="7263044" y="7340457"/>
                </a:lnTo>
                <a:lnTo>
                  <a:pt x="0" y="734045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387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646082" y="2037490"/>
            <a:ext cx="6995835" cy="40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9"/>
              </a:lnSpc>
            </a:pPr>
            <a:r>
              <a:rPr lang="en-US" b="true" sz="296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DIAGRAMA DE CLASSES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470080" y="-467015"/>
            <a:ext cx="4191924" cy="1394767"/>
          </a:xfrm>
          <a:custGeom>
            <a:avLst/>
            <a:gdLst/>
            <a:ahLst/>
            <a:cxnLst/>
            <a:rect r="r" b="b" t="t" l="l"/>
            <a:pathLst>
              <a:path h="1394767" w="4191924">
                <a:moveTo>
                  <a:pt x="0" y="0"/>
                </a:moveTo>
                <a:lnTo>
                  <a:pt x="4191924" y="0"/>
                </a:lnTo>
                <a:lnTo>
                  <a:pt x="4191924" y="1394768"/>
                </a:lnTo>
                <a:lnTo>
                  <a:pt x="0" y="13947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90656" y="-1681809"/>
            <a:ext cx="4607176" cy="5421018"/>
          </a:xfrm>
          <a:custGeom>
            <a:avLst/>
            <a:gdLst/>
            <a:ahLst/>
            <a:cxnLst/>
            <a:rect r="r" b="b" t="t" l="l"/>
            <a:pathLst>
              <a:path h="5421018" w="4607176">
                <a:moveTo>
                  <a:pt x="0" y="0"/>
                </a:moveTo>
                <a:lnTo>
                  <a:pt x="4607176" y="0"/>
                </a:lnTo>
                <a:lnTo>
                  <a:pt x="4607176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60326" y="92583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3" y="0"/>
                </a:lnTo>
                <a:lnTo>
                  <a:pt x="549283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5700" y="1079007"/>
            <a:ext cx="9700539" cy="2433953"/>
          </a:xfrm>
          <a:custGeom>
            <a:avLst/>
            <a:gdLst/>
            <a:ahLst/>
            <a:cxnLst/>
            <a:rect r="r" b="b" t="t" l="l"/>
            <a:pathLst>
              <a:path h="2433953" w="9700539">
                <a:moveTo>
                  <a:pt x="0" y="0"/>
                </a:moveTo>
                <a:lnTo>
                  <a:pt x="9700539" y="0"/>
                </a:lnTo>
                <a:lnTo>
                  <a:pt x="9700539" y="2433954"/>
                </a:lnTo>
                <a:lnTo>
                  <a:pt x="0" y="24339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94826" y="1587200"/>
            <a:ext cx="7346126" cy="8128493"/>
          </a:xfrm>
          <a:custGeom>
            <a:avLst/>
            <a:gdLst/>
            <a:ahLst/>
            <a:cxnLst/>
            <a:rect r="r" b="b" t="t" l="l"/>
            <a:pathLst>
              <a:path h="8128493" w="7346126">
                <a:moveTo>
                  <a:pt x="0" y="0"/>
                </a:moveTo>
                <a:lnTo>
                  <a:pt x="7346126" y="0"/>
                </a:lnTo>
                <a:lnTo>
                  <a:pt x="7346126" y="8128494"/>
                </a:lnTo>
                <a:lnTo>
                  <a:pt x="0" y="81284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60786" y="1812154"/>
            <a:ext cx="9775009" cy="102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03"/>
              </a:lnSpc>
            </a:pPr>
            <a:r>
              <a:rPr lang="en-US" b="true" sz="3812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PIPELINE DE DESENVOLVIMENTO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088345" y="3633704"/>
            <a:ext cx="2092418" cy="2248482"/>
          </a:xfrm>
          <a:custGeom>
            <a:avLst/>
            <a:gdLst/>
            <a:ahLst/>
            <a:cxnLst/>
            <a:rect r="r" b="b" t="t" l="l"/>
            <a:pathLst>
              <a:path h="2248482" w="2092418">
                <a:moveTo>
                  <a:pt x="0" y="0"/>
                </a:moveTo>
                <a:lnTo>
                  <a:pt x="2092418" y="0"/>
                </a:lnTo>
                <a:lnTo>
                  <a:pt x="2092418" y="2248482"/>
                </a:lnTo>
                <a:lnTo>
                  <a:pt x="0" y="22484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88634" y="4347173"/>
            <a:ext cx="2092667" cy="2299200"/>
          </a:xfrm>
          <a:custGeom>
            <a:avLst/>
            <a:gdLst/>
            <a:ahLst/>
            <a:cxnLst/>
            <a:rect r="r" b="b" t="t" l="l"/>
            <a:pathLst>
              <a:path h="2299200" w="2092667">
                <a:moveTo>
                  <a:pt x="0" y="0"/>
                </a:moveTo>
                <a:lnTo>
                  <a:pt x="2092667" y="0"/>
                </a:lnTo>
                <a:lnTo>
                  <a:pt x="2092667" y="2299200"/>
                </a:lnTo>
                <a:lnTo>
                  <a:pt x="0" y="2299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81326" y="4170001"/>
            <a:ext cx="4850270" cy="806614"/>
            <a:chOff x="0" y="0"/>
            <a:chExt cx="1185203" cy="197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5203" cy="197103"/>
            </a:xfrm>
            <a:custGeom>
              <a:avLst/>
              <a:gdLst/>
              <a:ahLst/>
              <a:cxnLst/>
              <a:rect r="r" b="b" t="t" l="l"/>
              <a:pathLst>
                <a:path h="197103" w="1185203">
                  <a:moveTo>
                    <a:pt x="39905" y="0"/>
                  </a:moveTo>
                  <a:lnTo>
                    <a:pt x="1145298" y="0"/>
                  </a:lnTo>
                  <a:cubicBezTo>
                    <a:pt x="1167337" y="0"/>
                    <a:pt x="1185203" y="17866"/>
                    <a:pt x="1185203" y="39905"/>
                  </a:cubicBezTo>
                  <a:lnTo>
                    <a:pt x="1185203" y="157198"/>
                  </a:lnTo>
                  <a:cubicBezTo>
                    <a:pt x="1185203" y="179237"/>
                    <a:pt x="1167337" y="197103"/>
                    <a:pt x="1145298" y="197103"/>
                  </a:cubicBezTo>
                  <a:lnTo>
                    <a:pt x="39905" y="197103"/>
                  </a:lnTo>
                  <a:cubicBezTo>
                    <a:pt x="17866" y="197103"/>
                    <a:pt x="0" y="179237"/>
                    <a:pt x="0" y="157198"/>
                  </a:cubicBezTo>
                  <a:lnTo>
                    <a:pt x="0" y="39905"/>
                  </a:lnTo>
                  <a:cubicBezTo>
                    <a:pt x="0" y="17866"/>
                    <a:pt x="17866" y="0"/>
                    <a:pt x="399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185203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81619" y="4295668"/>
            <a:ext cx="333581" cy="568018"/>
          </a:xfrm>
          <a:custGeom>
            <a:avLst/>
            <a:gdLst/>
            <a:ahLst/>
            <a:cxnLst/>
            <a:rect r="r" b="b" t="t" l="l"/>
            <a:pathLst>
              <a:path h="568018" w="333581">
                <a:moveTo>
                  <a:pt x="0" y="0"/>
                </a:moveTo>
                <a:lnTo>
                  <a:pt x="333582" y="0"/>
                </a:lnTo>
                <a:lnTo>
                  <a:pt x="333582" y="568018"/>
                </a:lnTo>
                <a:lnTo>
                  <a:pt x="0" y="5680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78309" y="4427899"/>
            <a:ext cx="4671554" cy="32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19"/>
              </a:lnSpc>
              <a:spcBef>
                <a:spcPct val="0"/>
              </a:spcBef>
            </a:pPr>
            <a:r>
              <a:rPr lang="en-US" b="true" sz="2304" spc="7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GIT + GITHUB FLOW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1326" y="5209554"/>
            <a:ext cx="8651222" cy="76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68"/>
              </a:lnSpc>
              <a:spcBef>
                <a:spcPct val="0"/>
              </a:spcBef>
            </a:pPr>
            <a:r>
              <a:rPr lang="en-US" sz="1875" spc="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Fluxo: Branch → Alteração → Commit → Pull Request → Code Review → Merge na main</a:t>
            </a:r>
          </a:p>
          <a:p>
            <a:pPr algn="just" marL="0" indent="0" lvl="0">
              <a:lnSpc>
                <a:spcPts val="1968"/>
              </a:lnSpc>
              <a:spcBef>
                <a:spcPct val="0"/>
              </a:spcBef>
            </a:pPr>
            <a:r>
              <a:rPr lang="en-US" sz="1875" spc="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Convenções: docs (documentação), fix (correções de erros)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81326" y="6631962"/>
            <a:ext cx="4850270" cy="806614"/>
            <a:chOff x="0" y="0"/>
            <a:chExt cx="1185203" cy="1971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85203" cy="197103"/>
            </a:xfrm>
            <a:custGeom>
              <a:avLst/>
              <a:gdLst/>
              <a:ahLst/>
              <a:cxnLst/>
              <a:rect r="r" b="b" t="t" l="l"/>
              <a:pathLst>
                <a:path h="197103" w="1185203">
                  <a:moveTo>
                    <a:pt x="39905" y="0"/>
                  </a:moveTo>
                  <a:lnTo>
                    <a:pt x="1145298" y="0"/>
                  </a:lnTo>
                  <a:cubicBezTo>
                    <a:pt x="1167337" y="0"/>
                    <a:pt x="1185203" y="17866"/>
                    <a:pt x="1185203" y="39905"/>
                  </a:cubicBezTo>
                  <a:lnTo>
                    <a:pt x="1185203" y="157198"/>
                  </a:lnTo>
                  <a:cubicBezTo>
                    <a:pt x="1185203" y="179237"/>
                    <a:pt x="1167337" y="197103"/>
                    <a:pt x="1145298" y="197103"/>
                  </a:cubicBezTo>
                  <a:lnTo>
                    <a:pt x="39905" y="197103"/>
                  </a:lnTo>
                  <a:cubicBezTo>
                    <a:pt x="17866" y="197103"/>
                    <a:pt x="0" y="179237"/>
                    <a:pt x="0" y="157198"/>
                  </a:cubicBezTo>
                  <a:lnTo>
                    <a:pt x="0" y="39905"/>
                  </a:lnTo>
                  <a:cubicBezTo>
                    <a:pt x="0" y="17866"/>
                    <a:pt x="17866" y="0"/>
                    <a:pt x="399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185203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81619" y="6757630"/>
            <a:ext cx="333581" cy="568018"/>
          </a:xfrm>
          <a:custGeom>
            <a:avLst/>
            <a:gdLst/>
            <a:ahLst/>
            <a:cxnLst/>
            <a:rect r="r" b="b" t="t" l="l"/>
            <a:pathLst>
              <a:path h="568018" w="333581">
                <a:moveTo>
                  <a:pt x="0" y="0"/>
                </a:moveTo>
                <a:lnTo>
                  <a:pt x="333582" y="0"/>
                </a:lnTo>
                <a:lnTo>
                  <a:pt x="333582" y="568018"/>
                </a:lnTo>
                <a:lnTo>
                  <a:pt x="0" y="5680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78309" y="6889860"/>
            <a:ext cx="3275344" cy="32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19"/>
              </a:lnSpc>
              <a:spcBef>
                <a:spcPct val="0"/>
              </a:spcBef>
            </a:pPr>
            <a:r>
              <a:rPr lang="en-US" b="true" sz="2304" spc="7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CRITÉRIOS DE MERGE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1326" y="7671515"/>
            <a:ext cx="8651222" cy="76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68"/>
              </a:lnSpc>
              <a:spcBef>
                <a:spcPct val="0"/>
              </a:spcBef>
            </a:pPr>
            <a:r>
              <a:rPr lang="en-US" sz="1875" spc="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Documentação revisada · Requisitos consistentes · Diagramas coerentes · Ausência de erros identificados · Aprovação do Pull Request quando aplicável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87661" y="7108128"/>
            <a:ext cx="19889989" cy="8313610"/>
          </a:xfrm>
          <a:custGeom>
            <a:avLst/>
            <a:gdLst/>
            <a:ahLst/>
            <a:cxnLst/>
            <a:rect r="r" b="b" t="t" l="l"/>
            <a:pathLst>
              <a:path h="8313610" w="19889989">
                <a:moveTo>
                  <a:pt x="0" y="0"/>
                </a:moveTo>
                <a:lnTo>
                  <a:pt x="19889989" y="0"/>
                </a:lnTo>
                <a:lnTo>
                  <a:pt x="19889989" y="8313610"/>
                </a:lnTo>
                <a:lnTo>
                  <a:pt x="0" y="8313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59383" y="3692754"/>
            <a:ext cx="3814194" cy="748374"/>
            <a:chOff x="0" y="0"/>
            <a:chExt cx="1004561" cy="197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845214" y="3809348"/>
            <a:ext cx="309496" cy="527005"/>
          </a:xfrm>
          <a:custGeom>
            <a:avLst/>
            <a:gdLst/>
            <a:ahLst/>
            <a:cxnLst/>
            <a:rect r="r" b="b" t="t" l="l"/>
            <a:pathLst>
              <a:path h="527005" w="309496">
                <a:moveTo>
                  <a:pt x="0" y="0"/>
                </a:moveTo>
                <a:lnTo>
                  <a:pt x="309496" y="0"/>
                </a:lnTo>
                <a:lnTo>
                  <a:pt x="309496" y="527005"/>
                </a:lnTo>
                <a:lnTo>
                  <a:pt x="0" y="527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044172" y="3692754"/>
            <a:ext cx="3814194" cy="748374"/>
            <a:chOff x="0" y="0"/>
            <a:chExt cx="1004561" cy="1971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230004" y="3809348"/>
            <a:ext cx="309496" cy="527005"/>
          </a:xfrm>
          <a:custGeom>
            <a:avLst/>
            <a:gdLst/>
            <a:ahLst/>
            <a:cxnLst/>
            <a:rect r="r" b="b" t="t" l="l"/>
            <a:pathLst>
              <a:path h="527005" w="309496">
                <a:moveTo>
                  <a:pt x="0" y="0"/>
                </a:moveTo>
                <a:lnTo>
                  <a:pt x="309496" y="0"/>
                </a:lnTo>
                <a:lnTo>
                  <a:pt x="309496" y="527005"/>
                </a:lnTo>
                <a:lnTo>
                  <a:pt x="0" y="527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645493" y="3692754"/>
            <a:ext cx="4199461" cy="748374"/>
            <a:chOff x="0" y="0"/>
            <a:chExt cx="1106031" cy="1971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6031" cy="197103"/>
            </a:xfrm>
            <a:custGeom>
              <a:avLst/>
              <a:gdLst/>
              <a:ahLst/>
              <a:cxnLst/>
              <a:rect r="r" b="b" t="t" l="l"/>
              <a:pathLst>
                <a:path h="197103" w="1106031">
                  <a:moveTo>
                    <a:pt x="46089" y="0"/>
                  </a:moveTo>
                  <a:lnTo>
                    <a:pt x="1059942" y="0"/>
                  </a:lnTo>
                  <a:cubicBezTo>
                    <a:pt x="1085396" y="0"/>
                    <a:pt x="1106031" y="20635"/>
                    <a:pt x="1106031" y="46089"/>
                  </a:cubicBezTo>
                  <a:lnTo>
                    <a:pt x="1106031" y="151014"/>
                  </a:lnTo>
                  <a:cubicBezTo>
                    <a:pt x="1106031" y="176468"/>
                    <a:pt x="1085396" y="197103"/>
                    <a:pt x="1059942" y="197103"/>
                  </a:cubicBezTo>
                  <a:lnTo>
                    <a:pt x="46089" y="197103"/>
                  </a:lnTo>
                  <a:cubicBezTo>
                    <a:pt x="20635" y="197103"/>
                    <a:pt x="0" y="176468"/>
                    <a:pt x="0" y="151014"/>
                  </a:cubicBezTo>
                  <a:lnTo>
                    <a:pt x="0" y="46089"/>
                  </a:lnTo>
                  <a:cubicBezTo>
                    <a:pt x="0" y="20635"/>
                    <a:pt x="20635" y="0"/>
                    <a:pt x="46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110603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6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831324" y="3809348"/>
            <a:ext cx="309496" cy="527005"/>
          </a:xfrm>
          <a:custGeom>
            <a:avLst/>
            <a:gdLst/>
            <a:ahLst/>
            <a:cxnLst/>
            <a:rect r="r" b="b" t="t" l="l"/>
            <a:pathLst>
              <a:path h="527005" w="309496">
                <a:moveTo>
                  <a:pt x="0" y="0"/>
                </a:moveTo>
                <a:lnTo>
                  <a:pt x="309496" y="0"/>
                </a:lnTo>
                <a:lnTo>
                  <a:pt x="309496" y="527005"/>
                </a:lnTo>
                <a:lnTo>
                  <a:pt x="0" y="527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45214" y="2065163"/>
            <a:ext cx="13764306" cy="50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99"/>
              </a:lnSpc>
            </a:pPr>
            <a:r>
              <a:rPr lang="en-US" b="true" sz="3618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ESTRATÉGIA DE TESTES E QUALIDADE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9383" y="4842886"/>
            <a:ext cx="4348950" cy="2766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Relacionado a: RF05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Pré-condição: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Aluno cadastrado e turma disponível.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Passos: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Selecionar turma → Confirmar matrícula.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Resultado esperado: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Matrícula registrada com sucesso no sistema.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Rastreabilidade: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RF05 → CT01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06041" y="3923881"/>
            <a:ext cx="3038854" cy="20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51"/>
              </a:lnSpc>
              <a:spcBef>
                <a:spcPct val="0"/>
              </a:spcBef>
            </a:pPr>
            <a:r>
              <a:rPr lang="en-US" b="true" sz="1477" spc="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CT01 – MATRÍCULA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44172" y="4842886"/>
            <a:ext cx="4563095" cy="253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Relacionado a: RF06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Pré-condição: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 autenticado e turma ativa.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Passos: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Acessar turma → Inserir nota do aluno.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Resultado esperado: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Nota armazenada e vinculada corretamente ao aluno.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Rastreabilidade: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RF06 → CT02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90831" y="3923881"/>
            <a:ext cx="3038854" cy="20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51"/>
              </a:lnSpc>
              <a:spcBef>
                <a:spcPct val="0"/>
              </a:spcBef>
            </a:pPr>
            <a:r>
              <a:rPr lang="en-US" b="true" sz="1477" spc="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CT02 – LANÇAMENTO DE NOTA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45493" y="4842886"/>
            <a:ext cx="4563095" cy="253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Relacionado a: RNF02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Pré-condição: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Usuário não autenticado tenta acessar recurso restrito.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Passos: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Acessar funcionalidade sem login.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Resultado esperado: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Acesso negado; redirecionamento para autenticação.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Rastreabilidade:</a:t>
            </a:r>
          </a:p>
          <a:p>
            <a:pPr algn="l" marL="0" indent="0" lvl="0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RNF02 → CT03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92151" y="3923881"/>
            <a:ext cx="3552803" cy="20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51"/>
              </a:lnSpc>
              <a:spcBef>
                <a:spcPct val="0"/>
              </a:spcBef>
            </a:pPr>
            <a:r>
              <a:rPr lang="en-US" b="true" sz="1477" spc="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CT03 – CONTROLE DE ACESSO</a:t>
            </a:r>
          </a:p>
        </p:txBody>
      </p:sp>
      <p:sp>
        <p:nvSpPr>
          <p:cNvPr name="Freeform 22" id="22"/>
          <p:cNvSpPr/>
          <p:nvPr/>
        </p:nvSpPr>
        <p:spPr>
          <a:xfrm flipH="false" flipV="true" rot="0">
            <a:off x="13838901" y="-2676342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984659" y="8983659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818104" y="-969648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97186" y="609273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62244" y="2186245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2" y="0"/>
                </a:lnTo>
                <a:lnTo>
                  <a:pt x="69941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653955"/>
            <a:ext cx="16514364" cy="7086163"/>
          </a:xfrm>
          <a:custGeom>
            <a:avLst/>
            <a:gdLst/>
            <a:ahLst/>
            <a:cxnLst/>
            <a:rect r="r" b="b" t="t" l="l"/>
            <a:pathLst>
              <a:path h="7086163" w="16514364">
                <a:moveTo>
                  <a:pt x="0" y="0"/>
                </a:moveTo>
                <a:lnTo>
                  <a:pt x="16514364" y="0"/>
                </a:lnTo>
                <a:lnTo>
                  <a:pt x="16514364" y="7086163"/>
                </a:lnTo>
                <a:lnTo>
                  <a:pt x="0" y="7086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64981" y="3546986"/>
            <a:ext cx="5116202" cy="5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6"/>
              </a:lnSpc>
            </a:pPr>
            <a:r>
              <a:rPr lang="en-US" b="true" sz="4358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CONCLUSÃO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64780" y="4869460"/>
            <a:ext cx="15568063" cy="178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3"/>
              </a:lnSpc>
              <a:spcBef>
                <a:spcPct val="0"/>
              </a:spcBef>
            </a:pPr>
            <a:r>
              <a:rPr lang="en-US" b="true" sz="228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DESAFIOS IDENTIFICADOS: </a:t>
            </a:r>
          </a:p>
          <a:p>
            <a:pPr algn="l">
              <a:lnSpc>
                <a:spcPts val="2403"/>
              </a:lnSpc>
              <a:spcBef>
                <a:spcPct val="0"/>
              </a:spcBef>
            </a:pPr>
          </a:p>
          <a:p>
            <a:pPr algn="l">
              <a:lnSpc>
                <a:spcPts val="2403"/>
              </a:lnSpc>
              <a:spcBef>
                <a:spcPct val="0"/>
              </a:spcBef>
            </a:pPr>
            <a:r>
              <a:rPr lang="en-US" b="true" sz="228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CONSISTÊNCIA DAS INFORMAÇÕES; </a:t>
            </a:r>
          </a:p>
          <a:p>
            <a:pPr algn="l">
              <a:lnSpc>
                <a:spcPts val="2403"/>
              </a:lnSpc>
              <a:spcBef>
                <a:spcPct val="0"/>
              </a:spcBef>
            </a:pPr>
            <a:r>
              <a:rPr lang="en-US" b="true" sz="228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PROTEÇÃO DOS DADOS ACADÊMICOS; </a:t>
            </a:r>
          </a:p>
          <a:p>
            <a:pPr algn="l">
              <a:lnSpc>
                <a:spcPts val="2403"/>
              </a:lnSpc>
              <a:spcBef>
                <a:spcPct val="0"/>
              </a:spcBef>
            </a:pPr>
            <a:r>
              <a:rPr lang="en-US" b="true" sz="228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RASTREABILIDADE ENTRE REQUISITOS E TESTES; </a:t>
            </a:r>
          </a:p>
          <a:p>
            <a:pPr algn="l">
              <a:lnSpc>
                <a:spcPts val="2403"/>
              </a:lnSpc>
              <a:spcBef>
                <a:spcPct val="0"/>
              </a:spcBef>
            </a:pPr>
            <a:r>
              <a:rPr lang="en-US" b="true" sz="228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EQUILÍBRIO ENTRE DESEMPENHO, SEGURANÇA E USABILIDADE.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737651" y="-1844229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-938505" y="3870639"/>
            <a:ext cx="5710019" cy="6718675"/>
          </a:xfrm>
          <a:custGeom>
            <a:avLst/>
            <a:gdLst/>
            <a:ahLst/>
            <a:cxnLst/>
            <a:rect r="r" b="b" t="t" l="l"/>
            <a:pathLst>
              <a:path h="6718675" w="5710019">
                <a:moveTo>
                  <a:pt x="0" y="6718675"/>
                </a:moveTo>
                <a:lnTo>
                  <a:pt x="5710019" y="6718675"/>
                </a:lnTo>
                <a:lnTo>
                  <a:pt x="5710019" y="0"/>
                </a:lnTo>
                <a:lnTo>
                  <a:pt x="0" y="0"/>
                </a:lnTo>
                <a:lnTo>
                  <a:pt x="0" y="6718675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653955"/>
            <a:ext cx="16514364" cy="7086163"/>
          </a:xfrm>
          <a:custGeom>
            <a:avLst/>
            <a:gdLst/>
            <a:ahLst/>
            <a:cxnLst/>
            <a:rect r="r" b="b" t="t" l="l"/>
            <a:pathLst>
              <a:path h="7086163" w="16514364">
                <a:moveTo>
                  <a:pt x="0" y="0"/>
                </a:moveTo>
                <a:lnTo>
                  <a:pt x="16514364" y="0"/>
                </a:lnTo>
                <a:lnTo>
                  <a:pt x="16514364" y="7086163"/>
                </a:lnTo>
                <a:lnTo>
                  <a:pt x="0" y="7086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16505" y="4458192"/>
            <a:ext cx="14738754" cy="164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66"/>
              </a:lnSpc>
            </a:pPr>
            <a:r>
              <a:rPr lang="en-US" b="true" sz="11968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OBRIGADO!!!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04080" y="6270423"/>
            <a:ext cx="10879840" cy="357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7"/>
              </a:lnSpc>
              <a:spcBef>
                <a:spcPct val="0"/>
              </a:spcBef>
            </a:pPr>
            <a:r>
              <a:rPr lang="en-US" sz="2445" i="true" spc="83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Qualidade começa com requisitos claros, verificáveis e testáveis.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DAHTn-CSzi0</dc:identifier>
  <dcterms:modified xsi:type="dcterms:W3CDTF">2011-08-01T06:04:30Z</dcterms:modified>
  <cp:revision>1</cp:revision>
  <dc:title>Apresentação com Modelo</dc:title>
</cp:coreProperties>
</file>